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mo Bold" charset="1" panose="020B0704020202020204"/>
      <p:regular r:id="rId20"/>
    </p:embeddedFont>
    <p:embeddedFont>
      <p:font typeface="Source Serif Pro Bold" charset="1" panose="02040803050405020204"/>
      <p:regular r:id="rId21"/>
    </p:embeddedFont>
    <p:embeddedFont>
      <p:font typeface="Arimo" charset="1" panose="020B0604020202020204"/>
      <p:regular r:id="rId22"/>
    </p:embeddedFont>
    <p:embeddedFont>
      <p:font typeface="Source Serif Pro" charset="1" panose="02040603050405020204"/>
      <p:regular r:id="rId23"/>
    </p:embeddedFont>
    <p:embeddedFont>
      <p:font typeface="Arimo Bold Italics" charset="1" panose="020B070402020209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jpeg" Type="http://schemas.openxmlformats.org/officeDocument/2006/relationships/image"/><Relationship Id="rId13" Target="../media/image29.jpeg" Type="http://schemas.openxmlformats.org/officeDocument/2006/relationships/image"/><Relationship Id="rId14" Target="../media/image30.png" Type="http://schemas.openxmlformats.org/officeDocument/2006/relationships/image"/><Relationship Id="rId15" Target="../media/image31.svg" Type="http://schemas.openxmlformats.org/officeDocument/2006/relationships/image"/><Relationship Id="rId16" Target="../media/image32.png" Type="http://schemas.openxmlformats.org/officeDocument/2006/relationships/image"/><Relationship Id="rId17" Target="../media/image33.svg" Type="http://schemas.openxmlformats.org/officeDocument/2006/relationships/image"/><Relationship Id="rId18" Target="../media/image34.jpe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9927">
            <a:off x="2861282" y="3254488"/>
            <a:ext cx="13194012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5244633" cy="10287000"/>
            <a:chOff x="0" y="0"/>
            <a:chExt cx="6992844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928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992874">
                  <a:moveTo>
                    <a:pt x="0" y="0"/>
                  </a:moveTo>
                  <a:lnTo>
                    <a:pt x="3746754" y="0"/>
                  </a:lnTo>
                  <a:lnTo>
                    <a:pt x="3790950" y="29972"/>
                  </a:lnTo>
                  <a:cubicBezTo>
                    <a:pt x="5845429" y="1509268"/>
                    <a:pt x="6992874" y="4186428"/>
                    <a:pt x="6992874" y="7243318"/>
                  </a:cubicBezTo>
                  <a:cubicBezTo>
                    <a:pt x="6992874" y="9938258"/>
                    <a:pt x="5135372" y="11205718"/>
                    <a:pt x="3244215" y="12749657"/>
                  </a:cubicBezTo>
                  <a:cubicBezTo>
                    <a:pt x="2899791" y="13030836"/>
                    <a:pt x="2558542" y="13306298"/>
                    <a:pt x="2210943" y="13561188"/>
                  </a:cubicBezTo>
                  <a:lnTo>
                    <a:pt x="198729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063114" y="0"/>
            <a:ext cx="3794584" cy="10287000"/>
          </a:xfrm>
          <a:custGeom>
            <a:avLst/>
            <a:gdLst/>
            <a:ahLst/>
            <a:cxnLst/>
            <a:rect r="r" b="b" t="t" l="l"/>
            <a:pathLst>
              <a:path h="10287000" w="3794584">
                <a:moveTo>
                  <a:pt x="0" y="0"/>
                </a:moveTo>
                <a:lnTo>
                  <a:pt x="3794584" y="0"/>
                </a:lnTo>
                <a:lnTo>
                  <a:pt x="379458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33103" y="0"/>
            <a:ext cx="3804651" cy="10287000"/>
          </a:xfrm>
          <a:custGeom>
            <a:avLst/>
            <a:gdLst/>
            <a:ahLst/>
            <a:cxnLst/>
            <a:rect r="r" b="b" t="t" l="l"/>
            <a:pathLst>
              <a:path h="10287000" w="3804651">
                <a:moveTo>
                  <a:pt x="0" y="0"/>
                </a:moveTo>
                <a:lnTo>
                  <a:pt x="3804651" y="0"/>
                </a:lnTo>
                <a:lnTo>
                  <a:pt x="38046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6242" y="0"/>
            <a:ext cx="3392027" cy="10287000"/>
          </a:xfrm>
          <a:custGeom>
            <a:avLst/>
            <a:gdLst/>
            <a:ahLst/>
            <a:cxnLst/>
            <a:rect r="r" b="b" t="t" l="l"/>
            <a:pathLst>
              <a:path h="10287000" w="3392027">
                <a:moveTo>
                  <a:pt x="0" y="0"/>
                </a:moveTo>
                <a:lnTo>
                  <a:pt x="3392026" y="0"/>
                </a:lnTo>
                <a:lnTo>
                  <a:pt x="33920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86" y="15"/>
            <a:ext cx="18283428" cy="10286985"/>
          </a:xfrm>
          <a:custGeom>
            <a:avLst/>
            <a:gdLst/>
            <a:ahLst/>
            <a:cxnLst/>
            <a:rect r="r" b="b" t="t" l="l"/>
            <a:pathLst>
              <a:path h="10286985" w="18283428">
                <a:moveTo>
                  <a:pt x="0" y="0"/>
                </a:moveTo>
                <a:lnTo>
                  <a:pt x="18283428" y="0"/>
                </a:lnTo>
                <a:lnTo>
                  <a:pt x="18283428" y="10286985"/>
                </a:lnTo>
                <a:lnTo>
                  <a:pt x="0" y="102869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967" r="-6" b="-833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49125" y="0"/>
            <a:ext cx="14762066" cy="10287000"/>
          </a:xfrm>
          <a:custGeom>
            <a:avLst/>
            <a:gdLst/>
            <a:ahLst/>
            <a:cxnLst/>
            <a:rect r="r" b="b" t="t" l="l"/>
            <a:pathLst>
              <a:path h="10287000" w="14762066">
                <a:moveTo>
                  <a:pt x="0" y="0"/>
                </a:moveTo>
                <a:lnTo>
                  <a:pt x="14762065" y="0"/>
                </a:lnTo>
                <a:lnTo>
                  <a:pt x="1476206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64552" y="0"/>
            <a:ext cx="3398180" cy="10287000"/>
          </a:xfrm>
          <a:custGeom>
            <a:avLst/>
            <a:gdLst/>
            <a:ahLst/>
            <a:cxnLst/>
            <a:rect r="r" b="b" t="t" l="l"/>
            <a:pathLst>
              <a:path h="10287000" w="3398180">
                <a:moveTo>
                  <a:pt x="0" y="0"/>
                </a:moveTo>
                <a:lnTo>
                  <a:pt x="3398180" y="0"/>
                </a:lnTo>
                <a:lnTo>
                  <a:pt x="33981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6549" y="0"/>
            <a:ext cx="3729483" cy="10287000"/>
          </a:xfrm>
          <a:custGeom>
            <a:avLst/>
            <a:gdLst/>
            <a:ahLst/>
            <a:cxnLst/>
            <a:rect r="r" b="b" t="t" l="l"/>
            <a:pathLst>
              <a:path h="10287000" w="3729483">
                <a:moveTo>
                  <a:pt x="0" y="0"/>
                </a:moveTo>
                <a:lnTo>
                  <a:pt x="3729483" y="0"/>
                </a:lnTo>
                <a:lnTo>
                  <a:pt x="37294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044291" y="0"/>
            <a:ext cx="3794584" cy="10287000"/>
          </a:xfrm>
          <a:custGeom>
            <a:avLst/>
            <a:gdLst/>
            <a:ahLst/>
            <a:cxnLst/>
            <a:rect r="r" b="b" t="t" l="l"/>
            <a:pathLst>
              <a:path h="10287000" w="3794584">
                <a:moveTo>
                  <a:pt x="0" y="0"/>
                </a:moveTo>
                <a:lnTo>
                  <a:pt x="3794585" y="0"/>
                </a:lnTo>
                <a:lnTo>
                  <a:pt x="379458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84938" y="0"/>
            <a:ext cx="3729483" cy="10287000"/>
          </a:xfrm>
          <a:custGeom>
            <a:avLst/>
            <a:gdLst/>
            <a:ahLst/>
            <a:cxnLst/>
            <a:rect r="r" b="b" t="t" l="l"/>
            <a:pathLst>
              <a:path h="10287000" w="3729483">
                <a:moveTo>
                  <a:pt x="0" y="0"/>
                </a:moveTo>
                <a:lnTo>
                  <a:pt x="3729483" y="0"/>
                </a:lnTo>
                <a:lnTo>
                  <a:pt x="37294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95853" y="733425"/>
            <a:ext cx="11496294" cy="5881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51"/>
              </a:lnSpc>
            </a:pPr>
            <a:r>
              <a:rPr lang="en-US" b="true" sz="10800" spc="225">
                <a:solidFill>
                  <a:srgbClr val="262626"/>
                </a:solidFill>
                <a:latin typeface="Arimo Bold"/>
                <a:ea typeface="Arimo Bold"/>
                <a:cs typeface="Arimo Bold"/>
                <a:sym typeface="Arimo Bold"/>
              </a:rPr>
              <a:t>Smart Street Light Control System Via sms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38790" y="6807613"/>
            <a:ext cx="10210419" cy="1101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b="true" sz="2092" spc="224">
                <a:solidFill>
                  <a:srgbClr val="504C49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 presentation on the benefits of Smart Street Light Control, exploring its functionality, implementation, and potential impact.</a:t>
            </a:r>
          </a:p>
          <a:p>
            <a:pPr algn="ctr">
              <a:lnSpc>
                <a:spcPts val="261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78" r="0" b="-917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4504" y="1163632"/>
            <a:ext cx="17201051" cy="748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1"/>
              </a:lnSpc>
            </a:pPr>
            <a:r>
              <a:rPr lang="en-US" b="true" sz="4405" spc="52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Presented by:</a:t>
            </a:r>
          </a:p>
          <a:p>
            <a:pPr algn="l">
              <a:lnSpc>
                <a:spcPts val="5921"/>
              </a:lnSpc>
            </a:pPr>
            <a:r>
              <a:rPr lang="en-US" b="true" sz="4405" spc="52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Mohammed Musaib     [3BR22EC095]  </a:t>
            </a:r>
          </a:p>
          <a:p>
            <a:pPr algn="l">
              <a:lnSpc>
                <a:spcPts val="5921"/>
              </a:lnSpc>
            </a:pPr>
            <a:r>
              <a:rPr lang="en-US" b="true" sz="4405" spc="52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Mohammed Roshan    [3BR22EC097]</a:t>
            </a:r>
          </a:p>
          <a:p>
            <a:pPr algn="l">
              <a:lnSpc>
                <a:spcPts val="5921"/>
              </a:lnSpc>
            </a:pPr>
            <a:r>
              <a:rPr lang="en-US" b="true" sz="4405" spc="52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Mohammed Shadaab   [3BR22EC098]</a:t>
            </a:r>
          </a:p>
          <a:p>
            <a:pPr algn="l">
              <a:lnSpc>
                <a:spcPts val="5921"/>
              </a:lnSpc>
            </a:pPr>
            <a:r>
              <a:rPr lang="en-US" b="true" sz="4405" spc="52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Nethra B                    [3BR22EC109]</a:t>
            </a:r>
          </a:p>
          <a:p>
            <a:pPr algn="l">
              <a:lnSpc>
                <a:spcPts val="5921"/>
              </a:lnSpc>
            </a:pPr>
          </a:p>
          <a:p>
            <a:pPr algn="l">
              <a:lnSpc>
                <a:spcPts val="5921"/>
              </a:lnSpc>
            </a:pPr>
            <a:r>
              <a:rPr lang="en-US" b="true" sz="4405" spc="52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Under the Guidance of: Ms. Harshitha K R</a:t>
            </a:r>
          </a:p>
          <a:p>
            <a:pPr algn="l">
              <a:lnSpc>
                <a:spcPts val="5921"/>
              </a:lnSpc>
            </a:pPr>
          </a:p>
          <a:p>
            <a:pPr algn="l">
              <a:lnSpc>
                <a:spcPts val="5921"/>
              </a:lnSpc>
            </a:pPr>
            <a:r>
              <a:rPr lang="en-US" b="true" sz="4405" spc="52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Ballari Institute of Technology &amp; Management,</a:t>
            </a:r>
          </a:p>
          <a:p>
            <a:pPr algn="l">
              <a:lnSpc>
                <a:spcPts val="5921"/>
              </a:lnSpc>
            </a:pPr>
            <a:r>
              <a:rPr lang="en-US" b="true" sz="4405" spc="524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Academic Year: 2024-2025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35473" y="-86916"/>
            <a:ext cx="12936401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30"/>
              </a:lnSpc>
            </a:pPr>
            <a:r>
              <a:rPr lang="en-US" sz="6750" spc="225" u="sng">
                <a:solidFill>
                  <a:srgbClr val="201B18"/>
                </a:solidFill>
                <a:latin typeface="Arimo"/>
                <a:ea typeface="Arimo"/>
                <a:cs typeface="Arimo"/>
                <a:sym typeface="Arimo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03049" y="2395084"/>
            <a:ext cx="17325178" cy="5876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15"/>
              </a:lnSpc>
            </a:pPr>
            <a:r>
              <a:rPr lang="en-US" sz="5781">
                <a:solidFill>
                  <a:srgbClr val="504C49"/>
                </a:solidFill>
                <a:latin typeface="Source Serif Pro"/>
                <a:ea typeface="Source Serif Pro"/>
                <a:cs typeface="Source Serif Pro"/>
                <a:sym typeface="Source Serif Pro"/>
              </a:rPr>
              <a:t>A smart street light control system via SMS is a technology that allows for remote management and control of street lights using text messages. This system offers several advantages over traditional street lighting systems.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4870" y="847725"/>
            <a:ext cx="12936401" cy="90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b="true" sz="4800" spc="225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Literature Review:-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5630" y="2824131"/>
            <a:ext cx="17247150" cy="5157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7"/>
              </a:lnSpc>
            </a:pPr>
            <a:r>
              <a:rPr lang="en-US" b="true" sz="3662" spc="30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Relevant Research:</a:t>
            </a:r>
          </a:p>
          <a:p>
            <a:pPr algn="l" marL="597154" indent="-199051" lvl="2">
              <a:lnSpc>
                <a:spcPts val="4989"/>
              </a:lnSpc>
              <a:buFont typeface="Arial"/>
              <a:buChar char="⚬"/>
            </a:pPr>
            <a:r>
              <a:rPr lang="en-US" sz="3299" spc="30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IoT-based Smart Street Light Fault Detection Management System (2024)</a:t>
            </a:r>
          </a:p>
          <a:p>
            <a:pPr algn="l" marL="597154" indent="-199051" lvl="2">
              <a:lnSpc>
                <a:spcPts val="4989"/>
              </a:lnSpc>
              <a:buFont typeface="Arial"/>
              <a:buChar char="⚬"/>
            </a:pPr>
            <a:r>
              <a:rPr lang="en-US" sz="3299" spc="30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Smart Street Lighting System with Fault Detection (2022)</a:t>
            </a:r>
          </a:p>
          <a:p>
            <a:pPr algn="l" marL="597154" indent="-199051" lvl="2">
              <a:lnSpc>
                <a:spcPts val="4989"/>
              </a:lnSpc>
              <a:buFont typeface="Arial"/>
              <a:buChar char="⚬"/>
            </a:pPr>
            <a:r>
              <a:rPr lang="en-US" sz="3299" spc="30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Advanced Street Light System using IoT (2020)</a:t>
            </a:r>
          </a:p>
          <a:p>
            <a:pPr algn="l" marL="662750" indent="-220917" lvl="2">
              <a:lnSpc>
                <a:spcPts val="5537"/>
              </a:lnSpc>
            </a:pPr>
            <a:r>
              <a:rPr lang="en-US" b="true" sz="3662" spc="30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Insights:</a:t>
            </a:r>
          </a:p>
          <a:p>
            <a:pPr algn="l" marL="597154" indent="-199051" lvl="2">
              <a:lnSpc>
                <a:spcPts val="4989"/>
              </a:lnSpc>
              <a:buFont typeface="Arial"/>
              <a:buChar char="⚬"/>
            </a:pPr>
            <a:r>
              <a:rPr lang="en-US" sz="3299" spc="30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Integrating sensors and communication modules improves efficiency.</a:t>
            </a:r>
          </a:p>
          <a:p>
            <a:pPr algn="l" marL="597154" indent="-199051" lvl="2">
              <a:lnSpc>
                <a:spcPts val="4989"/>
              </a:lnSpc>
              <a:buFont typeface="Arial"/>
              <a:buChar char="⚬"/>
            </a:pPr>
            <a:r>
              <a:rPr lang="en-US" sz="3299" spc="30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Fault detection mechanisms enhance operational reliability.</a:t>
            </a:r>
          </a:p>
          <a:p>
            <a:pPr algn="l" marL="597154" indent="-199051" lvl="2">
              <a:lnSpc>
                <a:spcPts val="498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4870" y="183052"/>
            <a:ext cx="12936401" cy="105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9"/>
              </a:lnSpc>
            </a:pPr>
            <a:r>
              <a:rPr lang="en-US" b="true" sz="5499" spc="257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Proposed Solution 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4933" y="1998378"/>
            <a:ext cx="16458050" cy="7433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2010" indent="-416005" lvl="1">
              <a:lnSpc>
                <a:spcPts val="7723"/>
              </a:lnSpc>
              <a:buFont typeface="Arial"/>
              <a:buChar char="•"/>
            </a:pPr>
            <a:r>
              <a:rPr lang="en-US" b="true" sz="4597" spc="38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Objective:</a:t>
            </a:r>
          </a:p>
          <a:p>
            <a:pPr algn="l" marL="832010" indent="-416005" lvl="1">
              <a:lnSpc>
                <a:spcPts val="7723"/>
              </a:lnSpc>
            </a:pPr>
            <a:r>
              <a:rPr lang="en-US" sz="4597" spc="38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Design and implement a Smart Street Lighting System that:</a:t>
            </a:r>
          </a:p>
          <a:p>
            <a:pPr algn="l" marL="713150" indent="-178288" lvl="3">
              <a:lnSpc>
                <a:spcPts val="6620"/>
              </a:lnSpc>
              <a:buFont typeface="Arial"/>
              <a:buChar char="￭"/>
            </a:pPr>
            <a:r>
              <a:rPr lang="en-US" sz="3940" spc="4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Enables remote control via SMS.</a:t>
            </a:r>
          </a:p>
          <a:p>
            <a:pPr algn="l" marL="713150" indent="-178288" lvl="3">
              <a:lnSpc>
                <a:spcPts val="6620"/>
              </a:lnSpc>
              <a:buFont typeface="Arial"/>
              <a:buChar char="￭"/>
            </a:pPr>
            <a:r>
              <a:rPr lang="en-US" sz="3940" spc="42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Enhances public safety and energy efficiency.</a:t>
            </a:r>
          </a:p>
          <a:p>
            <a:pPr algn="l" marL="832010" indent="-208002" lvl="3">
              <a:lnSpc>
                <a:spcPts val="7723"/>
              </a:lnSpc>
            </a:pPr>
            <a:r>
              <a:rPr lang="en-US" b="true" sz="4597" spc="38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Key Technologies:</a:t>
            </a:r>
          </a:p>
          <a:p>
            <a:pPr algn="l" marL="772580" indent="-257527" lvl="2">
              <a:lnSpc>
                <a:spcPts val="7171"/>
              </a:lnSpc>
              <a:buFont typeface="Arial"/>
              <a:buChar char="⚬"/>
            </a:pPr>
            <a:r>
              <a:rPr lang="en-US" sz="4268" spc="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IoT, sensors, and ESP8266.</a:t>
            </a:r>
          </a:p>
          <a:p>
            <a:pPr algn="l" marL="832010" indent="-277337" lvl="2">
              <a:lnSpc>
                <a:spcPts val="772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2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6270" y="124206"/>
            <a:ext cx="12936401" cy="90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b="true" sz="4800" spc="225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Methodology:-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96270" y="2024730"/>
            <a:ext cx="17248917" cy="645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2"/>
              </a:lnSpc>
            </a:pPr>
            <a:r>
              <a:rPr lang="en-US" b="true" sz="4022" spc="36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Hardware Setup:</a:t>
            </a:r>
          </a:p>
          <a:p>
            <a:pPr algn="l">
              <a:lnSpc>
                <a:spcPts val="5638"/>
              </a:lnSpc>
            </a:pPr>
            <a:r>
              <a:rPr lang="en-US" sz="3728" spc="3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Components: NodeMCU microcontroller,LDR sensors, LEDs,risestor.Power supply.</a:t>
            </a:r>
          </a:p>
          <a:p>
            <a:pPr algn="l">
              <a:lnSpc>
                <a:spcPts val="6082"/>
              </a:lnSpc>
            </a:pPr>
            <a:r>
              <a:rPr lang="en-US" b="true" sz="4022" spc="36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Software Implementation:</a:t>
            </a:r>
          </a:p>
          <a:p>
            <a:pPr algn="l" marL="674845" indent="-224948" lvl="2">
              <a:lnSpc>
                <a:spcPts val="5638"/>
              </a:lnSpc>
              <a:buFont typeface="Arial"/>
              <a:buChar char="⚬"/>
            </a:pPr>
            <a:r>
              <a:rPr lang="en-US" sz="3728" spc="3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NodeMCU programming using Arduino IDE.</a:t>
            </a:r>
          </a:p>
          <a:p>
            <a:pPr algn="l" marL="674845" indent="-224948" lvl="2">
              <a:lnSpc>
                <a:spcPts val="5638"/>
              </a:lnSpc>
              <a:buFont typeface="Arial"/>
              <a:buChar char="⚬"/>
            </a:pPr>
            <a:r>
              <a:rPr lang="en-US" sz="3728" spc="3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Real-time ambient light monitoring and dynamic adjustment.</a:t>
            </a:r>
          </a:p>
          <a:p>
            <a:pPr algn="l" marL="674845" indent="-224948" lvl="2">
              <a:lnSpc>
                <a:spcPts val="5638"/>
              </a:lnSpc>
              <a:buFont typeface="Arial"/>
              <a:buChar char="⚬"/>
            </a:pPr>
            <a:r>
              <a:rPr lang="en-US" sz="3728" spc="37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Fault detection algorithms and ThingSpeak integration for remote notifications.</a:t>
            </a:r>
          </a:p>
          <a:p>
            <a:pPr algn="l" marL="674845" indent="-224948" lvl="2">
              <a:lnSpc>
                <a:spcPts val="563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72" t="-2145" r="-107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6270" y="485965"/>
            <a:ext cx="12936401" cy="90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b="true" sz="4800" spc="225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Block Diagram:-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2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25427"/>
            <a:ext cx="12936401" cy="90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b="true" sz="4800" spc="225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Working principle:-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1756" y="2429982"/>
            <a:ext cx="17650629" cy="6073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6"/>
              </a:lnSpc>
            </a:pPr>
            <a:r>
              <a:rPr lang="en-US" sz="4372" spc="3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system integrates IoT-enabled sensors  to dynamically control street lighting.</a:t>
            </a:r>
          </a:p>
          <a:p>
            <a:pPr algn="l">
              <a:lnSpc>
                <a:spcPts val="5876"/>
              </a:lnSpc>
            </a:pPr>
            <a:r>
              <a:rPr lang="en-US" sz="4372" spc="3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LDR sensors monitor ambient light levels.</a:t>
            </a:r>
          </a:p>
          <a:p>
            <a:pPr algn="l">
              <a:lnSpc>
                <a:spcPts val="5876"/>
              </a:lnSpc>
            </a:pPr>
            <a:r>
              <a:rPr lang="en-US" sz="4372" spc="3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NodeMCU microcontroller </a:t>
            </a:r>
            <a:r>
              <a:rPr lang="en-US" sz="4372" spc="39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facilitates remote control and fault notifications via SMS.</a:t>
            </a:r>
          </a:p>
          <a:p>
            <a:pPr algn="l">
              <a:lnSpc>
                <a:spcPts val="6413"/>
              </a:lnSpc>
            </a:pPr>
            <a:r>
              <a:rPr lang="en-US" sz="4772" spc="4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Fault detection algorithms identify anomalies and trigger maintenance alerts.</a:t>
            </a:r>
          </a:p>
          <a:p>
            <a:pPr algn="l">
              <a:lnSpc>
                <a:spcPts val="587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9927">
            <a:off x="2861282" y="3254488"/>
            <a:ext cx="13194012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107406" y="0"/>
            <a:ext cx="5996291" cy="3970421"/>
          </a:xfrm>
          <a:custGeom>
            <a:avLst/>
            <a:gdLst/>
            <a:ahLst/>
            <a:cxnLst/>
            <a:rect r="r" b="b" t="t" l="l"/>
            <a:pathLst>
              <a:path h="3970421" w="5996291">
                <a:moveTo>
                  <a:pt x="0" y="0"/>
                </a:moveTo>
                <a:lnTo>
                  <a:pt x="5996290" y="0"/>
                </a:lnTo>
                <a:lnTo>
                  <a:pt x="5996290" y="3970421"/>
                </a:lnTo>
                <a:lnTo>
                  <a:pt x="0" y="3970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786315" y="-14288"/>
            <a:ext cx="6395794" cy="4328200"/>
          </a:xfrm>
          <a:custGeom>
            <a:avLst/>
            <a:gdLst/>
            <a:ahLst/>
            <a:cxnLst/>
            <a:rect r="r" b="b" t="t" l="l"/>
            <a:pathLst>
              <a:path h="4328200" w="6395794">
                <a:moveTo>
                  <a:pt x="0" y="0"/>
                </a:moveTo>
                <a:lnTo>
                  <a:pt x="6395795" y="0"/>
                </a:lnTo>
                <a:lnTo>
                  <a:pt x="6395795" y="4328201"/>
                </a:lnTo>
                <a:lnTo>
                  <a:pt x="0" y="43282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79507" y="-14288"/>
            <a:ext cx="6848115" cy="4654178"/>
          </a:xfrm>
          <a:custGeom>
            <a:avLst/>
            <a:gdLst/>
            <a:ahLst/>
            <a:cxnLst/>
            <a:rect r="r" b="b" t="t" l="l"/>
            <a:pathLst>
              <a:path h="4654178" w="6848115">
                <a:moveTo>
                  <a:pt x="0" y="0"/>
                </a:moveTo>
                <a:lnTo>
                  <a:pt x="6848115" y="0"/>
                </a:lnTo>
                <a:lnTo>
                  <a:pt x="6848115" y="4654178"/>
                </a:lnTo>
                <a:lnTo>
                  <a:pt x="0" y="4654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2506718"/>
            <a:ext cx="6318819" cy="7780282"/>
            <a:chOff x="0" y="0"/>
            <a:chExt cx="8425092" cy="103737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-17780"/>
              <a:ext cx="9442450" cy="10391521"/>
            </a:xfrm>
            <a:custGeom>
              <a:avLst/>
              <a:gdLst/>
              <a:ahLst/>
              <a:cxnLst/>
              <a:rect r="r" b="b" t="t" l="l"/>
              <a:pathLst>
                <a:path h="10391521" w="9442450">
                  <a:moveTo>
                    <a:pt x="2331466" y="19812"/>
                  </a:moveTo>
                  <a:cubicBezTo>
                    <a:pt x="3157982" y="43307"/>
                    <a:pt x="4005580" y="276606"/>
                    <a:pt x="4837811" y="753237"/>
                  </a:cubicBezTo>
                  <a:cubicBezTo>
                    <a:pt x="7814437" y="2457958"/>
                    <a:pt x="9442450" y="6577457"/>
                    <a:pt x="7726045" y="9526397"/>
                  </a:cubicBezTo>
                  <a:cubicBezTo>
                    <a:pt x="7565136" y="9802876"/>
                    <a:pt x="7384923" y="10024745"/>
                    <a:pt x="7188200" y="10210292"/>
                  </a:cubicBezTo>
                  <a:lnTo>
                    <a:pt x="6968617" y="10391521"/>
                  </a:lnTo>
                  <a:lnTo>
                    <a:pt x="0" y="10391521"/>
                  </a:lnTo>
                  <a:lnTo>
                    <a:pt x="0" y="521462"/>
                  </a:lnTo>
                  <a:lnTo>
                    <a:pt x="317627" y="383413"/>
                  </a:lnTo>
                  <a:cubicBezTo>
                    <a:pt x="959993" y="127889"/>
                    <a:pt x="1638300" y="0"/>
                    <a:pt x="2331466" y="19812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14288" y="1977044"/>
            <a:ext cx="6945658" cy="8324244"/>
          </a:xfrm>
          <a:custGeom>
            <a:avLst/>
            <a:gdLst/>
            <a:ahLst/>
            <a:cxnLst/>
            <a:rect r="r" b="b" t="t" l="l"/>
            <a:pathLst>
              <a:path h="8324244" w="6945658">
                <a:moveTo>
                  <a:pt x="0" y="0"/>
                </a:moveTo>
                <a:lnTo>
                  <a:pt x="6945659" y="0"/>
                </a:lnTo>
                <a:lnTo>
                  <a:pt x="6945659" y="8324244"/>
                </a:lnTo>
                <a:lnTo>
                  <a:pt x="0" y="83242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4288" y="2265802"/>
            <a:ext cx="6638478" cy="8035485"/>
          </a:xfrm>
          <a:custGeom>
            <a:avLst/>
            <a:gdLst/>
            <a:ahLst/>
            <a:cxnLst/>
            <a:rect r="r" b="b" t="t" l="l"/>
            <a:pathLst>
              <a:path h="8035485" w="6638478">
                <a:moveTo>
                  <a:pt x="0" y="0"/>
                </a:moveTo>
                <a:lnTo>
                  <a:pt x="6638478" y="0"/>
                </a:lnTo>
                <a:lnTo>
                  <a:pt x="6638478" y="8035486"/>
                </a:lnTo>
                <a:lnTo>
                  <a:pt x="0" y="80354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70298" y="-263679"/>
            <a:ext cx="6535253" cy="4577592"/>
          </a:xfrm>
          <a:custGeom>
            <a:avLst/>
            <a:gdLst/>
            <a:ahLst/>
            <a:cxnLst/>
            <a:rect r="r" b="b" t="t" l="l"/>
            <a:pathLst>
              <a:path h="4577592" w="6535253">
                <a:moveTo>
                  <a:pt x="0" y="0"/>
                </a:moveTo>
                <a:lnTo>
                  <a:pt x="6535253" y="0"/>
                </a:lnTo>
                <a:lnTo>
                  <a:pt x="6535253" y="4577592"/>
                </a:lnTo>
                <a:lnTo>
                  <a:pt x="0" y="45775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9531" r="-7" b="-6455"/>
            </a:stretch>
          </a:blipFill>
        </p:spPr>
      </p:sp>
      <p:sp>
        <p:nvSpPr>
          <p:cNvPr name="Freeform 11" id="11" descr="A blue circuit board with black wires and a light bulb  Description automatically generated"/>
          <p:cNvSpPr/>
          <p:nvPr/>
        </p:nvSpPr>
        <p:spPr>
          <a:xfrm flipH="false" flipV="false" rot="0">
            <a:off x="621571" y="4577595"/>
            <a:ext cx="4479477" cy="5647291"/>
          </a:xfrm>
          <a:custGeom>
            <a:avLst/>
            <a:gdLst/>
            <a:ahLst/>
            <a:cxnLst/>
            <a:rect r="r" b="b" t="t" l="l"/>
            <a:pathLst>
              <a:path h="5647291" w="4479477">
                <a:moveTo>
                  <a:pt x="0" y="0"/>
                </a:moveTo>
                <a:lnTo>
                  <a:pt x="4479477" y="0"/>
                </a:lnTo>
                <a:lnTo>
                  <a:pt x="4479477" y="5647291"/>
                </a:lnTo>
                <a:lnTo>
                  <a:pt x="0" y="56472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-576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24078" y="-33338"/>
            <a:ext cx="6578210" cy="5472875"/>
          </a:xfrm>
          <a:custGeom>
            <a:avLst/>
            <a:gdLst/>
            <a:ahLst/>
            <a:cxnLst/>
            <a:rect r="r" b="b" t="t" l="l"/>
            <a:pathLst>
              <a:path h="5472875" w="6578210">
                <a:moveTo>
                  <a:pt x="0" y="0"/>
                </a:moveTo>
                <a:lnTo>
                  <a:pt x="6578210" y="0"/>
                </a:lnTo>
                <a:lnTo>
                  <a:pt x="6578210" y="5472875"/>
                </a:lnTo>
                <a:lnTo>
                  <a:pt x="0" y="54728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380494" y="0"/>
            <a:ext cx="5907506" cy="4982392"/>
            <a:chOff x="0" y="0"/>
            <a:chExt cx="7876674" cy="66431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76667" cy="6643116"/>
            </a:xfrm>
            <a:custGeom>
              <a:avLst/>
              <a:gdLst/>
              <a:ahLst/>
              <a:cxnLst/>
              <a:rect r="r" b="b" t="t" l="l"/>
              <a:pathLst>
                <a:path h="6643116" w="7876667">
                  <a:moveTo>
                    <a:pt x="824992" y="0"/>
                  </a:moveTo>
                  <a:lnTo>
                    <a:pt x="7742809" y="0"/>
                  </a:lnTo>
                  <a:lnTo>
                    <a:pt x="7876667" y="118999"/>
                  </a:lnTo>
                  <a:lnTo>
                    <a:pt x="7876667" y="5036820"/>
                  </a:lnTo>
                  <a:lnTo>
                    <a:pt x="7713726" y="5237353"/>
                  </a:lnTo>
                  <a:cubicBezTo>
                    <a:pt x="6879209" y="6217285"/>
                    <a:pt x="5959602" y="6643116"/>
                    <a:pt x="4724654" y="6643116"/>
                  </a:cubicBezTo>
                  <a:cubicBezTo>
                    <a:pt x="3798316" y="6643116"/>
                    <a:pt x="3118739" y="6189980"/>
                    <a:pt x="2187448" y="5498846"/>
                  </a:cubicBezTo>
                  <a:cubicBezTo>
                    <a:pt x="2083435" y="5421630"/>
                    <a:pt x="1979422" y="5345303"/>
                    <a:pt x="1878711" y="5271643"/>
                  </a:cubicBezTo>
                  <a:cubicBezTo>
                    <a:pt x="1332865" y="4871720"/>
                    <a:pt x="817372" y="4493895"/>
                    <a:pt x="474345" y="4083812"/>
                  </a:cubicBezTo>
                  <a:cubicBezTo>
                    <a:pt x="146304" y="3691636"/>
                    <a:pt x="0" y="3298317"/>
                    <a:pt x="0" y="2808097"/>
                  </a:cubicBezTo>
                  <a:cubicBezTo>
                    <a:pt x="0" y="1733042"/>
                    <a:pt x="289560" y="752983"/>
                    <a:pt x="821944" y="3937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2092968" y="-14288"/>
            <a:ext cx="6209319" cy="5145765"/>
          </a:xfrm>
          <a:custGeom>
            <a:avLst/>
            <a:gdLst/>
            <a:ahLst/>
            <a:cxnLst/>
            <a:rect r="r" b="b" t="t" l="l"/>
            <a:pathLst>
              <a:path h="5145765" w="6209319">
                <a:moveTo>
                  <a:pt x="0" y="0"/>
                </a:moveTo>
                <a:lnTo>
                  <a:pt x="6209320" y="0"/>
                </a:lnTo>
                <a:lnTo>
                  <a:pt x="6209320" y="5145766"/>
                </a:lnTo>
                <a:lnTo>
                  <a:pt x="0" y="51457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18058" y="4497015"/>
            <a:ext cx="8100190" cy="166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b="true" sz="4800" spc="2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Compoment requried</a:t>
            </a:r>
          </a:p>
        </p:txBody>
      </p:sp>
      <p:sp>
        <p:nvSpPr>
          <p:cNvPr name="Freeform 17" id="17" descr="A close-up of a device  Description automatically generated"/>
          <p:cNvSpPr/>
          <p:nvPr/>
        </p:nvSpPr>
        <p:spPr>
          <a:xfrm flipH="false" flipV="false" rot="0">
            <a:off x="9373832" y="-138984"/>
            <a:ext cx="5438274" cy="4577594"/>
          </a:xfrm>
          <a:custGeom>
            <a:avLst/>
            <a:gdLst/>
            <a:ahLst/>
            <a:cxnLst/>
            <a:rect r="r" b="b" t="t" l="l"/>
            <a:pathLst>
              <a:path h="4577594" w="5438274">
                <a:moveTo>
                  <a:pt x="0" y="0"/>
                </a:moveTo>
                <a:lnTo>
                  <a:pt x="5438274" y="0"/>
                </a:lnTo>
                <a:lnTo>
                  <a:pt x="5438274" y="4577594"/>
                </a:lnTo>
                <a:lnTo>
                  <a:pt x="0" y="457759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112794" r="-3" b="-51218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468673" y="6409245"/>
            <a:ext cx="8100192" cy="2929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680"/>
              </a:lnSpc>
              <a:buFont typeface="Arial"/>
              <a:buChar char="•"/>
            </a:pPr>
            <a:r>
              <a:rPr lang="en-US" sz="3000" spc="2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Microcontroller: NodeMCU8266</a:t>
            </a:r>
          </a:p>
          <a:p>
            <a:pPr algn="l" marL="647700" indent="-323850" lvl="1">
              <a:lnSpc>
                <a:spcPts val="4680"/>
              </a:lnSpc>
              <a:buFont typeface="Arial"/>
              <a:buChar char="•"/>
            </a:pPr>
            <a:r>
              <a:rPr lang="en-US" sz="3000" spc="2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Sensors:  LDR</a:t>
            </a:r>
          </a:p>
          <a:p>
            <a:pPr algn="l" marL="647700" indent="-323850" lvl="1">
              <a:lnSpc>
                <a:spcPts val="4680"/>
              </a:lnSpc>
              <a:buFont typeface="Arial"/>
              <a:buChar char="•"/>
            </a:pPr>
            <a:r>
              <a:rPr lang="en-US" sz="3000" spc="2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Power Supply</a:t>
            </a:r>
          </a:p>
          <a:p>
            <a:pPr algn="l" marL="647700" indent="-323850" lvl="1">
              <a:lnSpc>
                <a:spcPts val="4680"/>
              </a:lnSpc>
              <a:buFont typeface="Arial"/>
              <a:buChar char="•"/>
            </a:pPr>
            <a:r>
              <a:rPr lang="en-US" sz="3000" spc="2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LED Lights, resistor, jumper wires.</a:t>
            </a:r>
          </a:p>
          <a:p>
            <a:pPr algn="l">
              <a:lnSpc>
                <a:spcPts val="468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2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4415" y="847725"/>
            <a:ext cx="12936401" cy="90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b="true" sz="4800" spc="225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Expected Outcomes:-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87693"/>
            <a:ext cx="15888525" cy="667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0"/>
              </a:lnSpc>
            </a:pPr>
            <a:r>
              <a:rPr lang="en-US" b="true" sz="3684" spc="27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Energy Efficiency:</a:t>
            </a:r>
          </a:p>
          <a:p>
            <a:pPr algn="l" marL="666822" indent="-222274" lvl="2">
              <a:lnSpc>
                <a:spcPts val="6190"/>
              </a:lnSpc>
              <a:buFont typeface="Arial"/>
              <a:buChar char="⚬"/>
            </a:pPr>
            <a:r>
              <a:rPr lang="en-US" sz="3684" spc="2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Reduced energy consumption and lower electricity bills.</a:t>
            </a:r>
          </a:p>
          <a:p>
            <a:pPr algn="l" marL="666822" indent="-222274" lvl="2">
              <a:lnSpc>
                <a:spcPts val="6190"/>
              </a:lnSpc>
            </a:pPr>
            <a:r>
              <a:rPr lang="en-US" b="true" sz="3684" spc="27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Public Safety:</a:t>
            </a:r>
          </a:p>
          <a:p>
            <a:pPr algn="l" marL="666822" indent="-222274" lvl="2">
              <a:lnSpc>
                <a:spcPts val="6190"/>
              </a:lnSpc>
              <a:buFont typeface="Arial"/>
              <a:buChar char="⚬"/>
            </a:pPr>
            <a:r>
              <a:rPr lang="en-US" sz="3684" spc="2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Enhanced visibility and reduced accidents/crimes.</a:t>
            </a:r>
          </a:p>
          <a:p>
            <a:pPr algn="l" marL="666822" indent="-222274" lvl="2">
              <a:lnSpc>
                <a:spcPts val="6190"/>
              </a:lnSpc>
            </a:pPr>
            <a:r>
              <a:rPr lang="en-US" b="true" sz="3684" spc="276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Technological Advancements:</a:t>
            </a:r>
          </a:p>
          <a:p>
            <a:pPr algn="l" marL="666822" indent="-222274" lvl="2">
              <a:lnSpc>
                <a:spcPts val="6190"/>
              </a:lnSpc>
              <a:buFont typeface="Arial"/>
              <a:buChar char="⚬"/>
            </a:pPr>
            <a:r>
              <a:rPr lang="en-US" sz="3684" spc="27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Real-world testing of emerging technologies.</a:t>
            </a:r>
          </a:p>
          <a:p>
            <a:pPr algn="l" marL="666822" indent="-222274" lvl="2">
              <a:lnSpc>
                <a:spcPts val="619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2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85966"/>
            <a:ext cx="12936401" cy="90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b="true" sz="4800" spc="225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Advantages</a:t>
            </a:r>
            <a:r>
              <a:rPr lang="en-US" b="true" sz="4800" spc="22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0718" y="2466253"/>
            <a:ext cx="15683982" cy="570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4741" indent="-377370" lvl="1">
              <a:lnSpc>
                <a:spcPts val="4698"/>
              </a:lnSpc>
              <a:buFont typeface="Arial"/>
              <a:buChar char="•"/>
            </a:pPr>
            <a:r>
              <a:rPr lang="en-US" sz="3495" spc="41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Energy Efficiency.</a:t>
            </a:r>
          </a:p>
          <a:p>
            <a:pPr algn="l" marL="754741" indent="-377370" lvl="1">
              <a:lnSpc>
                <a:spcPts val="4698"/>
              </a:lnSpc>
              <a:buFont typeface="Arial"/>
              <a:buChar char="•"/>
            </a:pPr>
            <a:r>
              <a:rPr lang="en-US" sz="3495" spc="41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Improved Public Safety.</a:t>
            </a:r>
          </a:p>
          <a:p>
            <a:pPr algn="l" marL="754741" indent="-377370" lvl="1">
              <a:lnSpc>
                <a:spcPts val="4698"/>
              </a:lnSpc>
              <a:buFont typeface="Arial"/>
              <a:buChar char="•"/>
            </a:pPr>
            <a:r>
              <a:rPr lang="en-US" sz="3495" spc="41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Enhanced visibility reduces accidents and crime.</a:t>
            </a:r>
          </a:p>
          <a:p>
            <a:pPr algn="l" marL="754741" indent="-377370" lvl="1">
              <a:lnSpc>
                <a:spcPts val="4698"/>
              </a:lnSpc>
              <a:buFont typeface="Arial"/>
              <a:buChar char="•"/>
            </a:pPr>
            <a:r>
              <a:rPr lang="en-US" sz="3495" spc="41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Environmental Impact.</a:t>
            </a:r>
          </a:p>
          <a:p>
            <a:pPr algn="l" marL="754741" indent="-377370" lvl="1">
              <a:lnSpc>
                <a:spcPts val="4698"/>
              </a:lnSpc>
              <a:buFont typeface="Arial"/>
              <a:buChar char="•"/>
            </a:pPr>
            <a:r>
              <a:rPr lang="en-US" sz="3495" spc="41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Cost-Effectiveness.</a:t>
            </a:r>
          </a:p>
          <a:p>
            <a:pPr algn="l" marL="754741" indent="-377370" lvl="1">
              <a:lnSpc>
                <a:spcPts val="4698"/>
              </a:lnSpc>
              <a:buFont typeface="Arial"/>
              <a:buChar char="•"/>
            </a:pPr>
            <a:r>
              <a:rPr lang="en-US" sz="3495" spc="41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Reduced maintenance costs.</a:t>
            </a:r>
          </a:p>
          <a:p>
            <a:pPr algn="l" marL="754741" indent="-377370" lvl="1">
              <a:lnSpc>
                <a:spcPts val="4698"/>
              </a:lnSpc>
              <a:buFont typeface="Arial"/>
              <a:buChar char="•"/>
            </a:pPr>
            <a:r>
              <a:rPr lang="en-US" sz="3495" spc="41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Technological Advancement.</a:t>
            </a:r>
          </a:p>
          <a:p>
            <a:pPr algn="l" marL="754741" indent="-377370" lvl="1">
              <a:lnSpc>
                <a:spcPts val="4698"/>
              </a:lnSpc>
              <a:buFont typeface="Arial"/>
              <a:buChar char="•"/>
            </a:pPr>
            <a:r>
              <a:rPr lang="en-US" sz="3495" spc="41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Integration of cutting-edge IoT and communication technologies.</a:t>
            </a:r>
          </a:p>
          <a:p>
            <a:pPr algn="l">
              <a:lnSpc>
                <a:spcPts val="2951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2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12936401" cy="90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b="true" sz="4800" spc="225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Challenges:-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105872"/>
            <a:ext cx="18106168" cy="544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6960" indent="-388480" lvl="1">
              <a:lnSpc>
                <a:spcPts val="5441"/>
              </a:lnSpc>
              <a:buFont typeface="Arial"/>
              <a:buChar char="•"/>
            </a:pPr>
            <a:r>
              <a:rPr lang="en-US" b="true" sz="3598" spc="35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Hardware Limitations</a:t>
            </a:r>
            <a:r>
              <a:rPr lang="en-US" sz="3598" spc="35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:Ensuring durability of sensors and microcontrollers in outdoor conditions.</a:t>
            </a:r>
          </a:p>
          <a:p>
            <a:pPr algn="l" marL="776960" indent="-388480" lvl="1">
              <a:lnSpc>
                <a:spcPts val="5441"/>
              </a:lnSpc>
              <a:buFont typeface="Arial"/>
              <a:buChar char="•"/>
            </a:pPr>
            <a:r>
              <a:rPr lang="en-US" b="true" sz="3598" spc="35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Connectivity Issues</a:t>
            </a:r>
            <a:r>
              <a:rPr lang="en-US" sz="3598" spc="35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:Maintaining consistent GSM and IoT connectivity in remote areas.</a:t>
            </a:r>
          </a:p>
          <a:p>
            <a:pPr algn="l" marL="776960" indent="-388480" lvl="1">
              <a:lnSpc>
                <a:spcPts val="5441"/>
              </a:lnSpc>
              <a:buFont typeface="Arial"/>
              <a:buChar char="•"/>
            </a:pPr>
            <a:r>
              <a:rPr lang="en-US" b="true" sz="3598" spc="35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Initial Costs:</a:t>
            </a:r>
            <a:r>
              <a:rPr lang="en-US" sz="3598" spc="35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Higher initial investment for infrastructure setup.</a:t>
            </a:r>
          </a:p>
          <a:p>
            <a:pPr algn="l" marL="776960" indent="-388480" lvl="1">
              <a:lnSpc>
                <a:spcPts val="5441"/>
              </a:lnSpc>
              <a:buFont typeface="Arial"/>
              <a:buChar char="•"/>
            </a:pPr>
            <a:r>
              <a:rPr lang="en-US" b="true" sz="3598" spc="35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Fault Detection Accuracy</a:t>
            </a:r>
            <a:r>
              <a:rPr lang="en-US" sz="3598" spc="35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:Refining algorithms to reduce false positives.</a:t>
            </a:r>
          </a:p>
          <a:p>
            <a:pPr algn="l">
              <a:lnSpc>
                <a:spcPts val="5441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2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2070" y="847725"/>
            <a:ext cx="12936401" cy="904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b="true" sz="4800" spc="225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Conclusion:-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3877" y="2377724"/>
            <a:ext cx="16403348" cy="6140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9"/>
              </a:lnSpc>
            </a:pPr>
            <a:r>
              <a:rPr lang="en-US" b="true" sz="3523" spc="29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Summary:</a:t>
            </a:r>
          </a:p>
          <a:p>
            <a:pPr algn="l" marL="568840" indent="-189613" lvl="2">
              <a:lnSpc>
                <a:spcPts val="5280"/>
              </a:lnSpc>
              <a:buFont typeface="Arial"/>
              <a:buChar char="⚬"/>
            </a:pPr>
            <a:r>
              <a:rPr lang="en-US" sz="3143" spc="2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Smart Street Light Control system addresses key inefficiencies in traditional systems.</a:t>
            </a:r>
          </a:p>
          <a:p>
            <a:pPr algn="l" marL="568840" indent="-189613" lvl="2">
              <a:lnSpc>
                <a:spcPts val="5280"/>
              </a:lnSpc>
              <a:buFont typeface="Arial"/>
              <a:buChar char="⚬"/>
            </a:pPr>
            <a:r>
              <a:rPr lang="en-US" sz="3143" spc="2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By leveraging IoT and SMS-based control, it enhances energy efficiency, safety, and sustainability.</a:t>
            </a:r>
          </a:p>
          <a:p>
            <a:pPr algn="l" marL="637683" indent="-212561" lvl="2">
              <a:lnSpc>
                <a:spcPts val="5919"/>
              </a:lnSpc>
            </a:pPr>
            <a:r>
              <a:rPr lang="en-US" b="true" sz="3523" spc="29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Future Scope:</a:t>
            </a:r>
          </a:p>
          <a:p>
            <a:pPr algn="l" marL="568840" indent="-189613" lvl="2">
              <a:lnSpc>
                <a:spcPts val="5280"/>
              </a:lnSpc>
              <a:buFont typeface="Arial"/>
              <a:buChar char="⚬"/>
            </a:pPr>
            <a:r>
              <a:rPr lang="en-US" sz="3143" spc="2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Expand integration with renewable energy sources.</a:t>
            </a:r>
          </a:p>
          <a:p>
            <a:pPr algn="l" marL="568840" indent="-189613" lvl="2">
              <a:lnSpc>
                <a:spcPts val="5280"/>
              </a:lnSpc>
              <a:buFont typeface="Arial"/>
              <a:buChar char="⚬"/>
            </a:pPr>
            <a:r>
              <a:rPr lang="en-US" sz="3143" spc="29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By Integerating AI will enable Predictive Analysis.</a:t>
            </a:r>
          </a:p>
          <a:p>
            <a:pPr algn="l" marL="568840" indent="-189613" lvl="2">
              <a:lnSpc>
                <a:spcPts val="528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145" r="0" b="-6414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33178" y="4216521"/>
            <a:ext cx="10691607" cy="1549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91"/>
              </a:lnSpc>
              <a:spcBef>
                <a:spcPct val="0"/>
              </a:spcBef>
            </a:pPr>
            <a:r>
              <a:rPr lang="en-US" b="true" sz="8199" i="true" spc="384">
                <a:solidFill>
                  <a:srgbClr val="FFFFFF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THANK YOU...!!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DAGbl8fReIs</dc:identifier>
  <dcterms:modified xsi:type="dcterms:W3CDTF">2011-08-01T06:04:30Z</dcterms:modified>
  <cp:revision>1</cp:revision>
  <dc:title>smartstreet.pptx</dc:title>
</cp:coreProperties>
</file>